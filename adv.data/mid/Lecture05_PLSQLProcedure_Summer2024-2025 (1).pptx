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6"/>
  </p:notesMasterIdLst>
  <p:handoutMasterIdLst>
    <p:handoutMasterId r:id="rId17"/>
  </p:handoutMasterIdLst>
  <p:sldIdLst>
    <p:sldId id="419" r:id="rId2"/>
    <p:sldId id="420" r:id="rId3"/>
    <p:sldId id="475" r:id="rId4"/>
    <p:sldId id="476" r:id="rId5"/>
    <p:sldId id="477" r:id="rId6"/>
    <p:sldId id="478" r:id="rId7"/>
    <p:sldId id="479" r:id="rId8"/>
    <p:sldId id="480" r:id="rId9"/>
    <p:sldId id="484" r:id="rId10"/>
    <p:sldId id="485" r:id="rId11"/>
    <p:sldId id="481" r:id="rId12"/>
    <p:sldId id="482" r:id="rId13"/>
    <p:sldId id="483" r:id="rId14"/>
    <p:sldId id="470" r:id="rId15"/>
  </p:sldIdLst>
  <p:sldSz cx="9144000" cy="6858000" type="screen4x3"/>
  <p:notesSz cx="6818313" cy="9128125"/>
  <p:defaultTextStyle>
    <a:defPPr>
      <a:defRPr lang="en-US"/>
    </a:defPPr>
    <a:lvl1pPr algn="ctr" rtl="0" eaLnBrk="0" fontAlgn="base" hangingPunct="0">
      <a:lnSpc>
        <a:spcPct val="120000"/>
      </a:lnSpc>
      <a:spcBef>
        <a:spcPct val="60000"/>
      </a:spcBef>
      <a:spcAft>
        <a:spcPct val="0"/>
      </a:spcAft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1pPr>
    <a:lvl2pPr marL="457200" algn="ctr" rtl="0" eaLnBrk="0" fontAlgn="base" hangingPunct="0">
      <a:lnSpc>
        <a:spcPct val="120000"/>
      </a:lnSpc>
      <a:spcBef>
        <a:spcPct val="60000"/>
      </a:spcBef>
      <a:spcAft>
        <a:spcPct val="0"/>
      </a:spcAft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2pPr>
    <a:lvl3pPr marL="914400" algn="ctr" rtl="0" eaLnBrk="0" fontAlgn="base" hangingPunct="0">
      <a:lnSpc>
        <a:spcPct val="120000"/>
      </a:lnSpc>
      <a:spcBef>
        <a:spcPct val="60000"/>
      </a:spcBef>
      <a:spcAft>
        <a:spcPct val="0"/>
      </a:spcAft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3pPr>
    <a:lvl4pPr marL="1371600" algn="ctr" rtl="0" eaLnBrk="0" fontAlgn="base" hangingPunct="0">
      <a:lnSpc>
        <a:spcPct val="120000"/>
      </a:lnSpc>
      <a:spcBef>
        <a:spcPct val="60000"/>
      </a:spcBef>
      <a:spcAft>
        <a:spcPct val="0"/>
      </a:spcAft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4pPr>
    <a:lvl5pPr marL="1828800" algn="ctr" rtl="0" eaLnBrk="0" fontAlgn="base" hangingPunct="0">
      <a:lnSpc>
        <a:spcPct val="120000"/>
      </a:lnSpc>
      <a:spcBef>
        <a:spcPct val="60000"/>
      </a:spcBef>
      <a:spcAft>
        <a:spcPct val="0"/>
      </a:spcAft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5pPr>
    <a:lvl6pPr marL="2286000" algn="l" defTabSz="914400" rtl="0" eaLnBrk="1" latinLnBrk="0" hangingPunct="1"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6pPr>
    <a:lvl7pPr marL="2743200" algn="l" defTabSz="914400" rtl="0" eaLnBrk="1" latinLnBrk="0" hangingPunct="1"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7pPr>
    <a:lvl8pPr marL="3200400" algn="l" defTabSz="914400" rtl="0" eaLnBrk="1" latinLnBrk="0" hangingPunct="1"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8pPr>
    <a:lvl9pPr marL="3657600" algn="l" defTabSz="914400" rtl="0" eaLnBrk="1" latinLnBrk="0" hangingPunct="1"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660033"/>
    <a:srgbClr val="000000"/>
    <a:srgbClr val="0099CC"/>
    <a:srgbClr val="FFCC66"/>
    <a:srgbClr val="FF9900"/>
    <a:srgbClr val="FF3300"/>
    <a:srgbClr val="FC01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35" autoAdjust="0"/>
    <p:restoredTop sz="51865" autoAdjust="0"/>
  </p:normalViewPr>
  <p:slideViewPr>
    <p:cSldViewPr>
      <p:cViewPr varScale="1">
        <p:scale>
          <a:sx n="78" d="100"/>
          <a:sy n="78" d="100"/>
        </p:scale>
        <p:origin x="158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75" d="100"/>
          <a:sy n="75" d="100"/>
        </p:scale>
        <p:origin x="-448" y="2126"/>
      </p:cViewPr>
      <p:guideLst>
        <p:guide orient="horz" pos="2160"/>
        <p:guide pos="288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ena Ahmed Noshin" userId="df4442bb-949b-4849-8a28-5716394ec665" providerId="ADAL" clId="{B9EFC547-EE47-4217-96AB-55B63746F307}"/>
    <pc:docChg chg="modSld">
      <pc:chgData name="Juena Ahmed Noshin" userId="df4442bb-949b-4849-8a28-5716394ec665" providerId="ADAL" clId="{B9EFC547-EE47-4217-96AB-55B63746F307}" dt="2023-04-05T10:37:18.828" v="3" actId="20577"/>
      <pc:docMkLst>
        <pc:docMk/>
      </pc:docMkLst>
      <pc:sldChg chg="modSp mod">
        <pc:chgData name="Juena Ahmed Noshin" userId="df4442bb-949b-4849-8a28-5716394ec665" providerId="ADAL" clId="{B9EFC547-EE47-4217-96AB-55B63746F307}" dt="2023-04-05T10:37:18.828" v="3" actId="20577"/>
        <pc:sldMkLst>
          <pc:docMk/>
          <pc:sldMk cId="2729903921" sldId="478"/>
        </pc:sldMkLst>
        <pc:spChg chg="mod">
          <ac:chgData name="Juena Ahmed Noshin" userId="df4442bb-949b-4849-8a28-5716394ec665" providerId="ADAL" clId="{B9EFC547-EE47-4217-96AB-55B63746F307}" dt="2023-04-05T10:37:18.828" v="3" actId="20577"/>
          <ac:spMkLst>
            <pc:docMk/>
            <pc:sldMk cId="2729903921" sldId="478"/>
            <ac:spMk id="3" creationId="{00000000-0000-0000-0000-000000000000}"/>
          </ac:spMkLst>
        </pc:spChg>
      </pc:sldChg>
    </pc:docChg>
  </pc:docChgLst>
  <pc:docChgLst>
    <pc:chgData name="Juena Ahmed Noshin" userId="df4442bb-949b-4849-8a28-5716394ec665" providerId="ADAL" clId="{1DF432CE-1EED-470A-8F9D-584F59DC621A}"/>
    <pc:docChg chg="modSld">
      <pc:chgData name="Juena Ahmed Noshin" userId="df4442bb-949b-4849-8a28-5716394ec665" providerId="ADAL" clId="{1DF432CE-1EED-470A-8F9D-584F59DC621A}" dt="2024-06-22T03:01:24.259" v="3" actId="20577"/>
      <pc:docMkLst>
        <pc:docMk/>
      </pc:docMkLst>
      <pc:sldChg chg="modSp mod">
        <pc:chgData name="Juena Ahmed Noshin" userId="df4442bb-949b-4849-8a28-5716394ec665" providerId="ADAL" clId="{1DF432CE-1EED-470A-8F9D-584F59DC621A}" dt="2024-06-22T03:01:24.259" v="3" actId="20577"/>
        <pc:sldMkLst>
          <pc:docMk/>
          <pc:sldMk cId="0" sldId="419"/>
        </pc:sldMkLst>
        <pc:spChg chg="mod">
          <ac:chgData name="Juena Ahmed Noshin" userId="df4442bb-949b-4849-8a28-5716394ec665" providerId="ADAL" clId="{1DF432CE-1EED-470A-8F9D-584F59DC621A}" dt="2024-06-22T03:01:24.259" v="3" actId="20577"/>
          <ac:spMkLst>
            <pc:docMk/>
            <pc:sldMk cId="0" sldId="419"/>
            <ac:spMk id="5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765175" y="8715375"/>
            <a:ext cx="528002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941388">
              <a:lnSpc>
                <a:spcPct val="100000"/>
              </a:lnSpc>
              <a:spcBef>
                <a:spcPct val="50000"/>
              </a:spcBef>
              <a:defRPr/>
            </a:pPr>
            <a:r>
              <a:rPr lang="en-US" sz="1000">
                <a:solidFill>
                  <a:schemeClr val="tx1"/>
                </a:solidFill>
                <a:latin typeface="Arial" charset="0"/>
              </a:rPr>
              <a:t>&lt;Course name&gt; &lt;Lesson number&gt;</a:t>
            </a:r>
            <a:r>
              <a:rPr lang="en-US" sz="1000">
                <a:solidFill>
                  <a:schemeClr val="tx1"/>
                </a:solidFill>
                <a:latin typeface="Times New Roman" pitchFamily="18" charset="0"/>
              </a:rPr>
              <a:t>-</a:t>
            </a:r>
            <a:fld id="{35E6A67C-5171-4676-ACF2-568C80EFCC45}" type="slidenum">
              <a:rPr lang="en-US" sz="1000">
                <a:solidFill>
                  <a:schemeClr val="tx1"/>
                </a:solidFill>
                <a:latin typeface="Arial" charset="0"/>
              </a:rPr>
              <a:pPr defTabSz="941388">
                <a:lnSpc>
                  <a:spcPct val="100000"/>
                </a:lnSpc>
                <a:spcBef>
                  <a:spcPct val="50000"/>
                </a:spcBef>
                <a:defRPr/>
              </a:pPr>
              <a:t>‹#›</a:t>
            </a:fld>
            <a:endParaRPr lang="en-US" sz="100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63022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66725" y="152400"/>
            <a:ext cx="5880100" cy="4406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3075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09575" y="4765675"/>
            <a:ext cx="5995988" cy="374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Heading (Level 1) Arial 11pt Bold</a:t>
            </a:r>
          </a:p>
          <a:p>
            <a:pPr lvl="1"/>
            <a:r>
              <a:rPr lang="en-US" noProof="0"/>
              <a:t>Body Text (Level 2) Times New Roman 11pt</a:t>
            </a:r>
          </a:p>
          <a:p>
            <a:pPr lvl="2"/>
            <a:r>
              <a:rPr lang="en-US" noProof="0"/>
              <a:t>Bullet 1 (Level 3) Times New Roman 11pt</a:t>
            </a:r>
          </a:p>
          <a:p>
            <a:pPr lvl="3"/>
            <a:r>
              <a:rPr lang="en-US" noProof="0"/>
              <a:t>Bullet 2 (Level 4) Times New Roman 11pt</a:t>
            </a:r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r>
              <a:rPr lang="en-US" noProof="0"/>
              <a:t>Technical Note (Level 1) Arial 11pt Bold (CHANGE TO BLUE)</a:t>
            </a:r>
          </a:p>
          <a:p>
            <a:pPr lvl="0"/>
            <a:r>
              <a:rPr lang="en-US" noProof="0"/>
              <a:t>Class Management Note (Level 1) Arial 11pt Bold (CHANGE TO BLUE)</a:t>
            </a:r>
          </a:p>
          <a:p>
            <a:pPr lvl="1"/>
            <a:r>
              <a:rPr lang="en-US" noProof="0"/>
              <a:t>Body Text (Level 2) Times New Roman 11pt (CHANGE TO BLUE)</a:t>
            </a:r>
          </a:p>
          <a:p>
            <a:pPr lvl="2"/>
            <a:r>
              <a:rPr lang="en-US" noProof="0"/>
              <a:t>Bullet 1 (Level 3) Times New Roman 11pt (CHANGE TO BLUE)</a:t>
            </a: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712788" y="8593138"/>
            <a:ext cx="52705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941388">
              <a:lnSpc>
                <a:spcPct val="100000"/>
              </a:lnSpc>
              <a:spcBef>
                <a:spcPct val="50000"/>
              </a:spcBef>
              <a:defRPr/>
            </a:pPr>
            <a:r>
              <a:rPr lang="en-US" sz="1000">
                <a:solidFill>
                  <a:schemeClr val="tx1"/>
                </a:solidFill>
                <a:latin typeface="Arial" charset="0"/>
              </a:rPr>
              <a:t>Introduction to Oracle: SQL and PL/SQL  1</a:t>
            </a:r>
            <a:r>
              <a:rPr lang="en-US" sz="1000">
                <a:solidFill>
                  <a:schemeClr val="tx1"/>
                </a:solidFill>
                <a:latin typeface="Times New Roman" pitchFamily="18" charset="0"/>
              </a:rPr>
              <a:t>-</a:t>
            </a:r>
            <a:fld id="{FB517E57-D154-464F-AB6B-48A81B16AB24}" type="slidenum">
              <a:rPr lang="en-US" sz="1000">
                <a:solidFill>
                  <a:schemeClr val="tx1"/>
                </a:solidFill>
                <a:latin typeface="Arial" charset="0"/>
              </a:rPr>
              <a:pPr defTabSz="941388">
                <a:lnSpc>
                  <a:spcPct val="100000"/>
                </a:lnSpc>
                <a:spcBef>
                  <a:spcPct val="50000"/>
                </a:spcBef>
                <a:defRPr/>
              </a:pPr>
              <a:t>‹#›</a:t>
            </a:fld>
            <a:endParaRPr lang="en-US" sz="100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9347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382588" rtl="0" eaLnBrk="0" fontAlgn="base" hangingPunct="0">
      <a:spcBef>
        <a:spcPct val="30000"/>
      </a:spcBef>
      <a:spcAft>
        <a:spcPct val="0"/>
      </a:spcAft>
      <a:tabLst>
        <a:tab pos="446088" algn="l"/>
      </a:tabLst>
      <a:defRPr sz="1100" b="1" kern="1200">
        <a:solidFill>
          <a:schemeClr val="tx1"/>
        </a:solidFill>
        <a:latin typeface="Arial" charset="0"/>
        <a:ea typeface="+mn-ea"/>
        <a:cs typeface="Arial" charset="0"/>
      </a:defRPr>
    </a:lvl1pPr>
    <a:lvl2pPr marL="114300" algn="l" defTabSz="382588" rtl="0" eaLnBrk="0" fontAlgn="base" hangingPunct="0">
      <a:spcBef>
        <a:spcPct val="30000"/>
      </a:spcBef>
      <a:spcAft>
        <a:spcPct val="0"/>
      </a:spcAft>
      <a:tabLst>
        <a:tab pos="446088" algn="l"/>
      </a:tabLst>
      <a:defRPr sz="11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439738" indent="-211138" algn="l" defTabSz="382588" rtl="0" eaLnBrk="0" fontAlgn="base" hangingPunct="0">
      <a:spcBef>
        <a:spcPct val="30000"/>
      </a:spcBef>
      <a:spcAft>
        <a:spcPct val="0"/>
      </a:spcAft>
      <a:buChar char="•"/>
      <a:tabLst>
        <a:tab pos="446088" algn="l"/>
      </a:tabLst>
      <a:defRPr sz="11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831850" indent="-212725" algn="l" defTabSz="382588" rtl="0" eaLnBrk="0" fontAlgn="base" hangingPunct="0">
      <a:spcBef>
        <a:spcPct val="30000"/>
      </a:spcBef>
      <a:spcAft>
        <a:spcPct val="0"/>
      </a:spcAft>
      <a:buChar char="–"/>
      <a:tabLst>
        <a:tab pos="446088" algn="l"/>
      </a:tabLst>
      <a:defRPr sz="11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2057400" indent="-228600" algn="l" defTabSz="382588" rtl="0" eaLnBrk="0" fontAlgn="base" hangingPunct="0">
      <a:spcBef>
        <a:spcPct val="30000"/>
      </a:spcBef>
      <a:spcAft>
        <a:spcPct val="0"/>
      </a:spcAft>
      <a:tabLst>
        <a:tab pos="446088" algn="l"/>
      </a:tabLs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8313" y="152400"/>
            <a:ext cx="5876925" cy="440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8798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8313" y="152400"/>
            <a:ext cx="5876925" cy="440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879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8313" y="152400"/>
            <a:ext cx="5876925" cy="440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879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8313" y="152400"/>
            <a:ext cx="5876925" cy="440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8798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8313" y="152400"/>
            <a:ext cx="5876925" cy="440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8798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8313" y="152400"/>
            <a:ext cx="5876925" cy="440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8798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8313" y="152400"/>
            <a:ext cx="5876925" cy="440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8798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8313" y="152400"/>
            <a:ext cx="5876925" cy="440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8798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8313" y="152400"/>
            <a:ext cx="5876925" cy="440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8798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8313" y="152400"/>
            <a:ext cx="5876925" cy="440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8798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8313" y="152400"/>
            <a:ext cx="5876925" cy="440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8798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9900" y="152400"/>
            <a:ext cx="5873750" cy="4406900"/>
          </a:xfrm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862388" y="8670925"/>
            <a:ext cx="2954337" cy="45561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1110" tIns="45555" rIns="91110" bIns="45555"/>
          <a:lstStyle/>
          <a:p>
            <a:fld id="{0C407F45-0339-4FDF-92C1-48833CA8D8BE}" type="slidenum">
              <a:rPr lang="en-US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white">
          <a:xfrm>
            <a:off x="8991600" y="3175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55575" y="241935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455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362450" y="2209800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16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868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C9E1EBF1-7C23-4048-A44E-855059E8AEC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2450" y="1027113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A8632-7304-4A16-9764-8BED3D3E819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152400" y="2286000"/>
            <a:ext cx="8832850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55575" y="142875"/>
            <a:ext cx="8832850" cy="213995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52400" y="2438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267200" y="211455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362450" y="2209800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868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2284A096-A90C-42DE-8201-C22ACB1D99F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 flipV="1">
            <a:off x="4562475" y="1576388"/>
            <a:ext cx="9525" cy="481806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10325"/>
            <a:ext cx="304482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C6F95D-D1BF-4989-BFB8-18CC4B2BA8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 flipV="1">
            <a:off x="4572000" y="2200275"/>
            <a:ext cx="0" cy="4187825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52400" y="1371600"/>
            <a:ext cx="8832850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050" y="6391275"/>
            <a:ext cx="8832850" cy="31115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52400" y="1279525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6" name="Oval 15"/>
          <p:cNvSpPr/>
          <p:nvPr/>
        </p:nvSpPr>
        <p:spPr>
          <a:xfrm>
            <a:off x="4267200" y="955675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362450" y="1050925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19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10325"/>
            <a:ext cx="3581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988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2D84E620-21EC-41E1-9377-F5C9298EEAF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638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349DEA-2E1C-4FF1-AB61-5AE86F21FD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white">
          <a:xfrm>
            <a:off x="0" y="0"/>
            <a:ext cx="9144000" cy="15557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52400" y="15875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8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D3806F43-B017-4AA9-811C-22CDF613F5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" y="152400"/>
            <a:ext cx="8832850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1906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52400" y="533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390650" y="323850"/>
            <a:ext cx="4191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A790B897-255A-49BE-A496-951493819AC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7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18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382963" cy="3667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152400" y="533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2850" cy="301625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390650" y="323850"/>
            <a:ext cx="4191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2648DA-3415-4D65-937C-1C2C32B3699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7" name="Date Placeholder 4"/>
          <p:cNvSpPr>
            <a:spLocks noGrp="1"/>
          </p:cNvSpPr>
          <p:nvPr>
            <p:ph type="dt" sz="half" idx="11"/>
          </p:nvPr>
        </p:nvSpPr>
        <p:spPr>
          <a:xfrm>
            <a:off x="5788025" y="6405563"/>
            <a:ext cx="304482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  <a:endParaRPr lang="en-US" dirty="0"/>
          </a:p>
        </p:txBody>
      </p:sp>
      <p:sp>
        <p:nvSpPr>
          <p:cNvPr id="18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584575" cy="3667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954AB1-19D3-4A17-B870-F9167AC37D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white">
          <a:xfrm>
            <a:off x="0" y="0"/>
            <a:ext cx="9144000" cy="15557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4021137" y="3278188"/>
            <a:ext cx="6245225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6838950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934200" y="3021013"/>
            <a:ext cx="420688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915150" y="3009900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49810C-8979-4CEC-96CD-E0D5E02B56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82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5563"/>
            <a:ext cx="3044825" cy="3651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6/17/2017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325"/>
            <a:ext cx="3581400" cy="366713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350"/>
            <a:ext cx="8832850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4267200" y="955675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362450" y="1050925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39813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E3B0FDF8-656D-4688-8D8A-F09712EA809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086" name="Title Placeholder 21"/>
          <p:cNvSpPr>
            <a:spLocks noGrp="1"/>
          </p:cNvSpPr>
          <p:nvPr>
            <p:ph type="title"/>
          </p:nvPr>
        </p:nvSpPr>
        <p:spPr bwMode="auto">
          <a:xfrm>
            <a:off x="301625" y="228600"/>
            <a:ext cx="8534400" cy="75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8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301625" y="1524000"/>
            <a:ext cx="8534400" cy="4598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 kern="1200">
          <a:solidFill>
            <a:srgbClr val="7B98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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ct val="20000"/>
        </a:spcBef>
        <a:spcAft>
          <a:spcPct val="0"/>
        </a:spcAft>
        <a:buClr>
          <a:srgbClr val="8CADAE"/>
        </a:buClr>
        <a:buSzPct val="75000"/>
        <a:buFont typeface="Wingdings 2" pitchFamily="18" charset="2"/>
        <a:buChar char="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ct val="20000"/>
        </a:spcBef>
        <a:spcAft>
          <a:spcPct val="0"/>
        </a:spcAft>
        <a:buClr>
          <a:srgbClr val="8C7B70"/>
        </a:buClr>
        <a:buSzPct val="70000"/>
        <a:buFont typeface="Wingdings" pitchFamily="2" charset="2"/>
        <a:buChar char="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ct val="20000"/>
        </a:spcBef>
        <a:spcAft>
          <a:spcPct val="0"/>
        </a:spcAft>
        <a:buClr>
          <a:srgbClr val="8FB08C"/>
        </a:buClr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33400" y="3581400"/>
            <a:ext cx="8229600" cy="16002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Advance Database Management System</a:t>
            </a:r>
            <a:b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4000" b="1">
                <a:solidFill>
                  <a:schemeClr val="tx1">
                    <a:lumMod val="75000"/>
                    <a:lumOff val="25000"/>
                  </a:schemeClr>
                </a:solidFill>
              </a:rPr>
              <a:t>Lecture 05:</a:t>
            </a:r>
            <a:b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PL/SQL Subprogram Part 01:</a:t>
            </a:r>
            <a:b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Procedure</a:t>
            </a:r>
            <a:b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4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015ECB-9F2C-4194-8DBC-DDD1CB92DD6C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Learning Objectives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03ABB-DD05-411F-85E0-4D1FB865E9CD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419600"/>
          </a:xfrm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know about: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Subprogram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Types of Subprogram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Parts of Subprogram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Procedure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Parameter Models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  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Subprograms and its 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03ABB-DD05-411F-85E0-4D1FB865E9CD}" type="slidenum">
              <a:rPr lang="en-US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419600"/>
          </a:xfrm>
        </p:spPr>
        <p:txBody>
          <a:bodyPr>
            <a:normAutofit fontScale="85000" lnSpcReduction="20000"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dirty="0"/>
          </a:p>
          <a:p>
            <a:r>
              <a:rPr lang="en-US" sz="2600" dirty="0"/>
              <a:t>A </a:t>
            </a:r>
            <a:r>
              <a:rPr lang="en-US" sz="2600" b="1" dirty="0"/>
              <a:t>subprogram</a:t>
            </a:r>
            <a:r>
              <a:rPr lang="en-US" sz="2600" dirty="0"/>
              <a:t> is a </a:t>
            </a:r>
            <a:r>
              <a:rPr lang="en-US" sz="2600" dirty="0">
                <a:highlight>
                  <a:srgbClr val="FFFF00"/>
                </a:highlight>
              </a:rPr>
              <a:t>program unit </a:t>
            </a:r>
            <a:r>
              <a:rPr lang="en-US" sz="2600" dirty="0"/>
              <a:t>that performs a particular task</a:t>
            </a:r>
          </a:p>
          <a:p>
            <a:r>
              <a:rPr lang="en-US" sz="2600" dirty="0"/>
              <a:t>Subprograms are combined to form larger programs</a:t>
            </a:r>
          </a:p>
          <a:p>
            <a:r>
              <a:rPr lang="en-US" sz="2600" dirty="0"/>
              <a:t>PL/SQL subprograms are named PL/SQL blocks that can be invoked with a set of parameters</a:t>
            </a:r>
          </a:p>
          <a:p>
            <a:r>
              <a:rPr lang="en-US" sz="2600" dirty="0"/>
              <a:t>PL/SQL provides two kinds of subprograms −</a:t>
            </a:r>
          </a:p>
          <a:p>
            <a:pPr lvl="1"/>
            <a:r>
              <a:rPr lang="en-US" sz="2600" b="1" dirty="0">
                <a:solidFill>
                  <a:schemeClr val="tx1"/>
                </a:solidFill>
              </a:rPr>
              <a:t>Functions</a:t>
            </a:r>
            <a:r>
              <a:rPr lang="en-US" sz="2600" dirty="0">
                <a:solidFill>
                  <a:schemeClr val="tx1"/>
                </a:solidFill>
              </a:rPr>
              <a:t> − These subprograms return </a:t>
            </a:r>
            <a:r>
              <a:rPr lang="en-US" sz="2600" dirty="0">
                <a:solidFill>
                  <a:schemeClr val="tx1"/>
                </a:solidFill>
                <a:highlight>
                  <a:srgbClr val="FFFF00"/>
                </a:highlight>
              </a:rPr>
              <a:t>a single value</a:t>
            </a:r>
            <a:r>
              <a:rPr lang="en-US" sz="2600" dirty="0">
                <a:solidFill>
                  <a:schemeClr val="tx1"/>
                </a:solidFill>
              </a:rPr>
              <a:t>; mainly used to </a:t>
            </a:r>
            <a:r>
              <a:rPr lang="en-US" sz="2600" dirty="0">
                <a:solidFill>
                  <a:schemeClr val="tx1"/>
                </a:solidFill>
                <a:highlight>
                  <a:srgbClr val="FFFF00"/>
                </a:highlight>
              </a:rPr>
              <a:t>compute</a:t>
            </a:r>
            <a:r>
              <a:rPr lang="en-US" sz="2600" dirty="0">
                <a:solidFill>
                  <a:schemeClr val="tx1"/>
                </a:solidFill>
              </a:rPr>
              <a:t> and return a </a:t>
            </a:r>
            <a:r>
              <a:rPr lang="en-US" sz="2600" dirty="0">
                <a:solidFill>
                  <a:schemeClr val="tx1"/>
                </a:solidFill>
                <a:highlight>
                  <a:srgbClr val="FFFF00"/>
                </a:highlight>
              </a:rPr>
              <a:t>value.</a:t>
            </a:r>
          </a:p>
          <a:p>
            <a:pPr lvl="1"/>
            <a:r>
              <a:rPr lang="en-US" sz="2600" b="1" dirty="0">
                <a:solidFill>
                  <a:schemeClr val="tx1"/>
                </a:solidFill>
              </a:rPr>
              <a:t>Procedures</a:t>
            </a:r>
            <a:r>
              <a:rPr lang="en-US" sz="2600" dirty="0">
                <a:solidFill>
                  <a:schemeClr val="tx1"/>
                </a:solidFill>
              </a:rPr>
              <a:t> − These subprograms do </a:t>
            </a:r>
            <a:r>
              <a:rPr lang="en-US" sz="2600" dirty="0">
                <a:solidFill>
                  <a:schemeClr val="tx1"/>
                </a:solidFill>
                <a:highlight>
                  <a:srgbClr val="FFFF00"/>
                </a:highlight>
              </a:rPr>
              <a:t>not return </a:t>
            </a:r>
            <a:r>
              <a:rPr lang="en-US" sz="2600" dirty="0">
                <a:solidFill>
                  <a:schemeClr val="tx1"/>
                </a:solidFill>
              </a:rPr>
              <a:t>a value </a:t>
            </a:r>
            <a:r>
              <a:rPr lang="en-US" sz="2600" dirty="0">
                <a:solidFill>
                  <a:schemeClr val="tx1"/>
                </a:solidFill>
                <a:highlight>
                  <a:srgbClr val="FFFF00"/>
                </a:highlight>
              </a:rPr>
              <a:t>directly;</a:t>
            </a:r>
            <a:r>
              <a:rPr lang="en-US" sz="2600" dirty="0">
                <a:solidFill>
                  <a:schemeClr val="tx1"/>
                </a:solidFill>
              </a:rPr>
              <a:t> mainly used to perform </a:t>
            </a:r>
            <a:r>
              <a:rPr lang="en-US" sz="2600" dirty="0">
                <a:solidFill>
                  <a:schemeClr val="tx1"/>
                </a:solidFill>
                <a:highlight>
                  <a:srgbClr val="FFFF00"/>
                </a:highlight>
              </a:rPr>
              <a:t>an action</a:t>
            </a:r>
            <a:r>
              <a:rPr lang="en-US" sz="2600" dirty="0">
                <a:solidFill>
                  <a:schemeClr val="tx1"/>
                </a:solidFill>
              </a:rPr>
              <a:t>.</a:t>
            </a:r>
          </a:p>
          <a:p>
            <a:pPr>
              <a:buNone/>
            </a:pPr>
            <a:r>
              <a:rPr lang="en-US" sz="2600" dirty="0"/>
              <a:t>	This lecture is going to cover important aspects of a </a:t>
            </a:r>
            <a:r>
              <a:rPr lang="en-US" sz="2600" b="1" dirty="0"/>
              <a:t>PL/SQL procedure</a:t>
            </a:r>
            <a:r>
              <a:rPr lang="en-US" sz="2600" dirty="0"/>
              <a:t>. We will discuss </a:t>
            </a:r>
            <a:r>
              <a:rPr lang="en-US" sz="2600" b="1" dirty="0"/>
              <a:t>PL/SQL function</a:t>
            </a:r>
            <a:r>
              <a:rPr lang="en-US" sz="2600" dirty="0"/>
              <a:t> in the next lecture.</a:t>
            </a:r>
          </a:p>
          <a:p>
            <a:endParaRPr lang="en-US" sz="29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1677322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Parts of a PL/SQL Subprograms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03ABB-DD05-411F-85E0-4D1FB865E9CD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419600"/>
          </a:xfrm>
        </p:spPr>
        <p:txBody>
          <a:bodyPr>
            <a:normAutofit fontScale="55000" lnSpcReduction="20000"/>
          </a:bodyPr>
          <a:lstStyle/>
          <a:p>
            <a:r>
              <a:rPr lang="en-US" sz="3600" dirty="0"/>
              <a:t>Each PL/SQL subprogram has a name, and may also have a parameter list</a:t>
            </a:r>
          </a:p>
          <a:p>
            <a:r>
              <a:rPr lang="en-US" sz="3600" dirty="0"/>
              <a:t>Like anonymous PL/SQL blocks, the named blocks will also have the following three parts −</a:t>
            </a:r>
          </a:p>
          <a:p>
            <a:pPr lvl="1"/>
            <a:r>
              <a:rPr lang="en-US" sz="3600" b="1" dirty="0">
                <a:solidFill>
                  <a:schemeClr val="tx1"/>
                </a:solidFill>
              </a:rPr>
              <a:t>Declarative Part</a:t>
            </a:r>
            <a:endParaRPr lang="en-US" sz="36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sz="3600" dirty="0"/>
              <a:t>	It is </a:t>
            </a:r>
            <a:r>
              <a:rPr lang="en-US" sz="3600" dirty="0">
                <a:highlight>
                  <a:srgbClr val="FFFF00"/>
                </a:highlight>
              </a:rPr>
              <a:t>an optional part</a:t>
            </a:r>
            <a:r>
              <a:rPr lang="en-US" sz="3600" dirty="0"/>
              <a:t>. However, the declarative part for a subprogram does not start with the DECLARE keyword. It contains declarations of types, cursors, constants, variables, exceptions, and nested subprograms. </a:t>
            </a:r>
            <a:r>
              <a:rPr lang="en-US" sz="3600" dirty="0">
                <a:highlight>
                  <a:srgbClr val="FFFF00"/>
                </a:highlight>
              </a:rPr>
              <a:t>These items are local to the subprogram </a:t>
            </a:r>
            <a:r>
              <a:rPr lang="en-US" sz="3600" dirty="0"/>
              <a:t>and </a:t>
            </a:r>
            <a:r>
              <a:rPr lang="en-US" sz="3600" dirty="0">
                <a:highlight>
                  <a:srgbClr val="FFFF00"/>
                </a:highlight>
              </a:rPr>
              <a:t>cease to exist when the subprogram completes execution.</a:t>
            </a:r>
          </a:p>
          <a:p>
            <a:pPr lvl="1"/>
            <a:r>
              <a:rPr lang="en-US" sz="3600" b="1" dirty="0">
                <a:solidFill>
                  <a:schemeClr val="tx1"/>
                </a:solidFill>
              </a:rPr>
              <a:t>Executable Part</a:t>
            </a:r>
            <a:endParaRPr lang="en-US" sz="36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sz="3600" dirty="0"/>
              <a:t>	This is a </a:t>
            </a:r>
            <a:r>
              <a:rPr lang="en-US" sz="3600" dirty="0">
                <a:highlight>
                  <a:srgbClr val="FFFF00"/>
                </a:highlight>
              </a:rPr>
              <a:t>mandatory part </a:t>
            </a:r>
            <a:r>
              <a:rPr lang="en-US" sz="3600" dirty="0"/>
              <a:t>and contains statements that perform the designated action.</a:t>
            </a:r>
          </a:p>
          <a:p>
            <a:pPr lvl="1"/>
            <a:r>
              <a:rPr lang="en-US" sz="3600" b="1" dirty="0">
                <a:solidFill>
                  <a:schemeClr val="tx1"/>
                </a:solidFill>
              </a:rPr>
              <a:t>Exception-handling</a:t>
            </a:r>
            <a:endParaRPr lang="en-US" sz="36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sz="3600" dirty="0"/>
              <a:t>	This is again an optional part. It contains the code that handles run-time errors.</a:t>
            </a:r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631202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Creating a Procedure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03ABB-DD05-411F-85E0-4D1FB865E9CD}" type="slidenum">
              <a:rPr lang="en-US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419600"/>
          </a:xfrm>
        </p:spPr>
        <p:txBody>
          <a:bodyPr>
            <a:normAutofit fontScale="47500" lnSpcReduction="20000"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dirty="0"/>
          </a:p>
          <a:p>
            <a:r>
              <a:rPr lang="en-US" sz="3600" dirty="0"/>
              <a:t>A procedure is created with the </a:t>
            </a:r>
            <a:r>
              <a:rPr lang="en-US" sz="3600" b="1" dirty="0"/>
              <a:t>CREATE OR REPLACE PROCEDURE</a:t>
            </a:r>
            <a:r>
              <a:rPr lang="en-US" sz="3600" dirty="0"/>
              <a:t> statement. The simplified syntax for the CREATE OR REPLACE PROCEDURE statement is as follows −</a:t>
            </a:r>
          </a:p>
          <a:p>
            <a:pPr>
              <a:buNone/>
            </a:pPr>
            <a:r>
              <a:rPr lang="en-US" sz="3600" dirty="0"/>
              <a:t>	</a:t>
            </a:r>
          </a:p>
          <a:p>
            <a:pPr>
              <a:buNone/>
            </a:pPr>
            <a:r>
              <a:rPr lang="en-US" sz="3600" dirty="0"/>
              <a:t>	</a:t>
            </a:r>
            <a:r>
              <a:rPr lang="en-US" sz="3600" b="1" i="1" dirty="0"/>
              <a:t>CREATE [OR REPLACE] PROCEDURE </a:t>
            </a:r>
            <a:r>
              <a:rPr lang="en-US" sz="3600" b="1" i="1" dirty="0" err="1"/>
              <a:t>procedure_name</a:t>
            </a:r>
            <a:r>
              <a:rPr lang="en-US" sz="3600" b="1" i="1" dirty="0"/>
              <a:t> [(</a:t>
            </a:r>
            <a:r>
              <a:rPr lang="en-US" sz="3600" b="1" i="1" dirty="0" err="1"/>
              <a:t>parameter_name</a:t>
            </a:r>
            <a:r>
              <a:rPr lang="en-US" sz="3600" b="1" i="1" dirty="0"/>
              <a:t> [IN | OUT | IN OUT] type [, ...])] {IS | AS} BEGIN &lt; </a:t>
            </a:r>
            <a:r>
              <a:rPr lang="en-US" sz="3600" b="1" i="1" dirty="0" err="1"/>
              <a:t>procedure_body</a:t>
            </a:r>
            <a:r>
              <a:rPr lang="en-US" sz="3600" b="1" i="1" dirty="0"/>
              <a:t> &gt; END </a:t>
            </a:r>
            <a:r>
              <a:rPr lang="en-US" sz="3600" b="1" i="1" dirty="0" err="1"/>
              <a:t>procedure_name</a:t>
            </a:r>
            <a:r>
              <a:rPr lang="en-US" sz="3600" b="1" i="1" dirty="0"/>
              <a:t>; </a:t>
            </a:r>
          </a:p>
          <a:p>
            <a:pPr>
              <a:buNone/>
            </a:pPr>
            <a:r>
              <a:rPr lang="en-US" sz="3200" dirty="0"/>
              <a:t>	</a:t>
            </a:r>
          </a:p>
          <a:p>
            <a:pPr>
              <a:buNone/>
            </a:pPr>
            <a:r>
              <a:rPr lang="en-US" sz="3200" dirty="0"/>
              <a:t>	</a:t>
            </a:r>
            <a:r>
              <a:rPr lang="en-US" sz="4400" dirty="0"/>
              <a:t>Where,</a:t>
            </a:r>
          </a:p>
          <a:p>
            <a:pPr lvl="1"/>
            <a:r>
              <a:rPr lang="en-US" sz="2900" i="1" dirty="0">
                <a:solidFill>
                  <a:schemeClr val="tx1"/>
                </a:solidFill>
              </a:rPr>
              <a:t>procedure-name</a:t>
            </a:r>
            <a:r>
              <a:rPr lang="en-US" sz="2900" dirty="0">
                <a:solidFill>
                  <a:schemeClr val="tx1"/>
                </a:solidFill>
              </a:rPr>
              <a:t> specifies the name of the procedure.</a:t>
            </a:r>
          </a:p>
          <a:p>
            <a:pPr lvl="1"/>
            <a:r>
              <a:rPr lang="en-US" sz="2900" dirty="0">
                <a:solidFill>
                  <a:schemeClr val="tx1"/>
                </a:solidFill>
              </a:rPr>
              <a:t>[OR REPLACE] option allows the modification of an existing procedure.</a:t>
            </a:r>
          </a:p>
          <a:p>
            <a:pPr lvl="1"/>
            <a:r>
              <a:rPr lang="en-US" sz="2900" dirty="0">
                <a:solidFill>
                  <a:schemeClr val="tx1"/>
                </a:solidFill>
              </a:rPr>
              <a:t>The optional parameter list contains name, mode and types of the parameters. </a:t>
            </a:r>
          </a:p>
          <a:p>
            <a:pPr lvl="1"/>
            <a:r>
              <a:rPr lang="en-US" sz="2900" b="1" dirty="0">
                <a:solidFill>
                  <a:schemeClr val="tx1"/>
                </a:solidFill>
              </a:rPr>
              <a:t>IN</a:t>
            </a:r>
            <a:r>
              <a:rPr lang="en-US" sz="2900" dirty="0">
                <a:solidFill>
                  <a:schemeClr val="tx1"/>
                </a:solidFill>
              </a:rPr>
              <a:t> represents the value that will be </a:t>
            </a:r>
            <a:r>
              <a:rPr lang="en-US" sz="2900" dirty="0">
                <a:solidFill>
                  <a:schemeClr val="tx1"/>
                </a:solidFill>
                <a:highlight>
                  <a:srgbClr val="FFFF00"/>
                </a:highlight>
              </a:rPr>
              <a:t>passed from outside </a:t>
            </a:r>
            <a:r>
              <a:rPr lang="en-US" sz="2900" dirty="0">
                <a:solidFill>
                  <a:schemeClr val="tx1"/>
                </a:solidFill>
              </a:rPr>
              <a:t>and OUT represents the parameter that will be used </a:t>
            </a:r>
            <a:r>
              <a:rPr lang="en-US" sz="2900" dirty="0">
                <a:solidFill>
                  <a:schemeClr val="tx1"/>
                </a:solidFill>
                <a:highlight>
                  <a:srgbClr val="FFFF00"/>
                </a:highlight>
              </a:rPr>
              <a:t>to return a value outside of the procedure</a:t>
            </a:r>
            <a:r>
              <a:rPr lang="en-US" sz="2900" dirty="0">
                <a:solidFill>
                  <a:schemeClr val="tx1"/>
                </a:solidFill>
              </a:rPr>
              <a:t>.</a:t>
            </a:r>
          </a:p>
          <a:p>
            <a:pPr lvl="1"/>
            <a:r>
              <a:rPr lang="en-US" sz="2900" i="1" dirty="0">
                <a:solidFill>
                  <a:schemeClr val="tx1"/>
                </a:solidFill>
              </a:rPr>
              <a:t>procedure-body</a:t>
            </a:r>
            <a:r>
              <a:rPr lang="en-US" sz="2900" dirty="0">
                <a:solidFill>
                  <a:schemeClr val="tx1"/>
                </a:solidFill>
              </a:rPr>
              <a:t> contains the executable part.</a:t>
            </a:r>
          </a:p>
          <a:p>
            <a:pPr lvl="1"/>
            <a:r>
              <a:rPr lang="en-US" sz="2900" dirty="0">
                <a:solidFill>
                  <a:schemeClr val="tx1"/>
                </a:solidFill>
                <a:highlight>
                  <a:srgbClr val="FFFF00"/>
                </a:highlight>
              </a:rPr>
              <a:t>The AS keyword is used instead of the IS keyword for creating a standalone procedure.</a:t>
            </a:r>
          </a:p>
          <a:p>
            <a:pPr lvl="1"/>
            <a:endParaRPr lang="en-US" sz="3100" dirty="0"/>
          </a:p>
          <a:p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3522754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Procedure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03ABB-DD05-411F-85E0-4D1FB865E9CD}" type="slidenum">
              <a:rPr lang="en-US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419600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dirty="0"/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400" b="1" dirty="0"/>
              <a:t>CREATE OR REPLACE PROCEDURE greetings 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400" b="1" dirty="0"/>
              <a:t>AS 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400" b="1" dirty="0"/>
              <a:t>BEGIN 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400" b="1" dirty="0"/>
              <a:t>   </a:t>
            </a:r>
            <a:r>
              <a:rPr lang="en-US" sz="2400" b="1" dirty="0" err="1"/>
              <a:t>dbms_output.put_line</a:t>
            </a:r>
            <a:r>
              <a:rPr lang="en-US" sz="2400" b="1" dirty="0"/>
              <a:t>('Hello World!'); 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400" b="1" dirty="0"/>
              <a:t>END; 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400" b="1" dirty="0"/>
              <a:t>/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9903921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Executing and Deleting a Standalone procedure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03ABB-DD05-411F-85E0-4D1FB865E9CD}" type="slidenum">
              <a:rPr lang="en-US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419600"/>
          </a:xfrm>
        </p:spPr>
        <p:txBody>
          <a:bodyPr>
            <a:normAutofit fontScale="70000" lnSpcReduction="20000"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dirty="0"/>
          </a:p>
          <a:p>
            <a:r>
              <a:rPr lang="en-US" sz="3600" dirty="0"/>
              <a:t>A </a:t>
            </a:r>
            <a:r>
              <a:rPr lang="en-US" sz="3600" dirty="0">
                <a:highlight>
                  <a:srgbClr val="FFFF00"/>
                </a:highlight>
              </a:rPr>
              <a:t>standalone</a:t>
            </a:r>
            <a:r>
              <a:rPr lang="en-US" sz="3600" dirty="0"/>
              <a:t> procedure can be called by −</a:t>
            </a:r>
          </a:p>
          <a:p>
            <a:pPr lvl="1"/>
            <a:r>
              <a:rPr lang="en-US" sz="3600" dirty="0">
                <a:solidFill>
                  <a:schemeClr val="tx1"/>
                </a:solidFill>
              </a:rPr>
              <a:t>the name of the procedure from a PL/SQL block</a:t>
            </a:r>
          </a:p>
          <a:p>
            <a:pPr marL="274320" indent="-274320" eaLnBrk="1" fontAlgn="auto" hangingPunct="1">
              <a:spcAft>
                <a:spcPts val="0"/>
              </a:spcAft>
              <a:defRPr/>
            </a:pPr>
            <a:r>
              <a:rPr lang="en-US" sz="3200" dirty="0"/>
              <a:t>The procedure named </a:t>
            </a:r>
            <a:r>
              <a:rPr lang="en-US" sz="3200" b="1" dirty="0"/>
              <a:t>'greetings'</a:t>
            </a:r>
            <a:r>
              <a:rPr lang="en-US" sz="3200" dirty="0"/>
              <a:t> can be called from another PL/SQL block −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sz="3200" dirty="0"/>
              <a:t>	</a:t>
            </a:r>
            <a:r>
              <a:rPr lang="en-US" sz="3200" b="1" i="1" dirty="0">
                <a:highlight>
                  <a:srgbClr val="FFFF00"/>
                </a:highlight>
              </a:rPr>
              <a:t>BEGIN 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sz="3200" b="1" i="1" dirty="0">
                <a:highlight>
                  <a:srgbClr val="FFFF00"/>
                </a:highlight>
              </a:rPr>
              <a:t>	   greetings; 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sz="3200" b="1" i="1" dirty="0">
                <a:highlight>
                  <a:srgbClr val="FFFF00"/>
                </a:highlight>
              </a:rPr>
              <a:t>	END; 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sz="3200" dirty="0"/>
              <a:t>	</a:t>
            </a:r>
            <a:r>
              <a:rPr lang="en-US" sz="3200" b="1" i="1" dirty="0"/>
              <a:t>/</a:t>
            </a:r>
          </a:p>
          <a:p>
            <a:pPr marL="274320" indent="-274320" eaLnBrk="1" fontAlgn="auto" hangingPunct="1">
              <a:spcAft>
                <a:spcPts val="0"/>
              </a:spcAft>
              <a:defRPr/>
            </a:pPr>
            <a:r>
              <a:rPr lang="en-US" sz="3200" dirty="0"/>
              <a:t>A standalone procedure is deleted with the DROP PROCEDURE statement. Syntax for deleting a procedure is −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sz="3200" dirty="0"/>
              <a:t>	</a:t>
            </a:r>
            <a:r>
              <a:rPr lang="en-US" sz="3200" b="1" i="1" dirty="0"/>
              <a:t>DROP PROCEDURE  greetings; 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3200" dirty="0"/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5580113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Parameter Modes in PL/SQL Subprograms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03ABB-DD05-411F-85E0-4D1FB865E9CD}" type="slidenum">
              <a:rPr lang="en-US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419600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sz="4200" b="1" dirty="0"/>
              <a:t>IN</a:t>
            </a:r>
          </a:p>
          <a:p>
            <a:r>
              <a:rPr lang="en-US" sz="4200" dirty="0"/>
              <a:t>An IN parameter lets you pass a value to the subprogram</a:t>
            </a:r>
          </a:p>
          <a:p>
            <a:r>
              <a:rPr lang="en-US" sz="4200" b="1" dirty="0"/>
              <a:t>It is a </a:t>
            </a:r>
            <a:r>
              <a:rPr lang="en-US" sz="4200" b="1" dirty="0">
                <a:highlight>
                  <a:srgbClr val="FFFF00"/>
                </a:highlight>
              </a:rPr>
              <a:t>read-only</a:t>
            </a:r>
            <a:r>
              <a:rPr lang="en-US" sz="4200" b="1" dirty="0"/>
              <a:t> parameter</a:t>
            </a:r>
            <a:endParaRPr lang="en-US" sz="4200" dirty="0"/>
          </a:p>
          <a:p>
            <a:r>
              <a:rPr lang="en-US" sz="4200" dirty="0"/>
              <a:t>Inside the subprogram, an </a:t>
            </a:r>
            <a:r>
              <a:rPr lang="en-US" sz="4200" dirty="0">
                <a:highlight>
                  <a:srgbClr val="FFFF00"/>
                </a:highlight>
              </a:rPr>
              <a:t>IN</a:t>
            </a:r>
            <a:r>
              <a:rPr lang="en-US" sz="4200" dirty="0"/>
              <a:t> parameter acts like a </a:t>
            </a:r>
            <a:r>
              <a:rPr lang="en-US" sz="4200" dirty="0">
                <a:highlight>
                  <a:srgbClr val="FFFF00"/>
                </a:highlight>
              </a:rPr>
              <a:t>constant</a:t>
            </a:r>
          </a:p>
          <a:p>
            <a:r>
              <a:rPr lang="en-US" sz="4200" dirty="0"/>
              <a:t>It cannot be assigned a value</a:t>
            </a:r>
          </a:p>
          <a:p>
            <a:r>
              <a:rPr lang="en-US" sz="4200" dirty="0"/>
              <a:t> You can pass a constant, literal, initialized variable, or expression as an IN parameter</a:t>
            </a:r>
          </a:p>
          <a:p>
            <a:r>
              <a:rPr lang="en-US" sz="4200" dirty="0"/>
              <a:t>You can also initialize it to a default value; however, in that case, it is omitted from the subprogram call</a:t>
            </a:r>
          </a:p>
          <a:p>
            <a:r>
              <a:rPr lang="en-US" sz="4200" b="1" dirty="0">
                <a:highlight>
                  <a:srgbClr val="FFFF00"/>
                </a:highlight>
              </a:rPr>
              <a:t>It is the default mode of parameter passing</a:t>
            </a:r>
          </a:p>
          <a:p>
            <a:r>
              <a:rPr lang="en-US" sz="4200" b="1" dirty="0">
                <a:highlight>
                  <a:srgbClr val="FFFF00"/>
                </a:highlight>
              </a:rPr>
              <a:t>Parameters are passed by reference</a:t>
            </a:r>
            <a:endParaRPr lang="en-US" sz="4200" dirty="0">
              <a:highlight>
                <a:srgbClr val="FFFF00"/>
              </a:highlight>
            </a:endParaRPr>
          </a:p>
          <a:p>
            <a:endParaRPr lang="en-US" sz="3600" dirty="0"/>
          </a:p>
          <a:p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5272529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Parameter Modes in PL/SQL Subprograms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03ABB-DD05-411F-85E0-4D1FB865E9CD}" type="slidenum">
              <a:rPr lang="en-US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4196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3100" b="1" dirty="0"/>
              <a:t>OUT</a:t>
            </a:r>
          </a:p>
          <a:p>
            <a:r>
              <a:rPr lang="en-US" sz="3100" dirty="0"/>
              <a:t>An OUT parameter returns a value to the calling program</a:t>
            </a:r>
          </a:p>
          <a:p>
            <a:r>
              <a:rPr lang="en-US" sz="3100" dirty="0"/>
              <a:t>Inside the subprogram, an OUT parameter acts like a </a:t>
            </a:r>
            <a:r>
              <a:rPr lang="en-US" sz="3100" dirty="0">
                <a:highlight>
                  <a:srgbClr val="FFFF00"/>
                </a:highlight>
              </a:rPr>
              <a:t>variable</a:t>
            </a:r>
          </a:p>
          <a:p>
            <a:r>
              <a:rPr lang="en-US" sz="3100" dirty="0"/>
              <a:t>You can change its value and reference the value after assigning it</a:t>
            </a:r>
          </a:p>
          <a:p>
            <a:r>
              <a:rPr lang="en-US" sz="3100" dirty="0"/>
              <a:t> </a:t>
            </a:r>
            <a:r>
              <a:rPr lang="en-US" sz="3100" b="1" dirty="0">
                <a:highlight>
                  <a:srgbClr val="FFFF00"/>
                </a:highlight>
              </a:rPr>
              <a:t>The actual parameter must be variable and it is passed by value</a:t>
            </a:r>
            <a:endParaRPr lang="en-US" sz="3100" dirty="0">
              <a:highlight>
                <a:srgbClr val="FFFF00"/>
              </a:highlight>
            </a:endParaRPr>
          </a:p>
          <a:p>
            <a:endParaRPr lang="en-US" sz="4200" dirty="0"/>
          </a:p>
          <a:p>
            <a:endParaRPr lang="en-US" sz="3600" dirty="0"/>
          </a:p>
          <a:p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5272529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Parameter Modes in PL/SQL Subprograms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03ABB-DD05-411F-85E0-4D1FB865E9CD}" type="slidenum">
              <a:rPr lang="en-US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419600"/>
          </a:xfrm>
        </p:spPr>
        <p:txBody>
          <a:bodyPr>
            <a:normAutofit fontScale="62500" lnSpcReduction="20000"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dirty="0"/>
          </a:p>
          <a:p>
            <a:pPr>
              <a:buNone/>
            </a:pPr>
            <a:r>
              <a:rPr lang="en-US" sz="4200" b="1" dirty="0"/>
              <a:t>IN OUT</a:t>
            </a:r>
          </a:p>
          <a:p>
            <a:r>
              <a:rPr lang="en-US" sz="4200" dirty="0"/>
              <a:t>An </a:t>
            </a:r>
            <a:r>
              <a:rPr lang="en-US" sz="4200" b="1" dirty="0"/>
              <a:t>IN OUT</a:t>
            </a:r>
            <a:r>
              <a:rPr lang="en-US" sz="4200" dirty="0"/>
              <a:t> parameter </a:t>
            </a:r>
            <a:r>
              <a:rPr lang="en-US" sz="4200" dirty="0">
                <a:highlight>
                  <a:srgbClr val="FFFF00"/>
                </a:highlight>
              </a:rPr>
              <a:t>passes an initial value </a:t>
            </a:r>
            <a:r>
              <a:rPr lang="en-US" sz="4200" dirty="0"/>
              <a:t>to a subprogram and returns an </a:t>
            </a:r>
            <a:r>
              <a:rPr lang="en-US" sz="4200" dirty="0">
                <a:highlight>
                  <a:srgbClr val="FFFF00"/>
                </a:highlight>
              </a:rPr>
              <a:t>updated value to the caller</a:t>
            </a:r>
          </a:p>
          <a:p>
            <a:r>
              <a:rPr lang="en-US" sz="4200" dirty="0"/>
              <a:t>It can be assigned a value and the value can be read</a:t>
            </a:r>
          </a:p>
          <a:p>
            <a:r>
              <a:rPr lang="en-US" sz="4200" dirty="0"/>
              <a:t>The actual parameter corresponding to an IN OUT formal parameter must be a variable, not a constant or an expression</a:t>
            </a:r>
          </a:p>
          <a:p>
            <a:r>
              <a:rPr lang="en-US" sz="4200" dirty="0"/>
              <a:t>Formal parameter must be assigned a value</a:t>
            </a:r>
          </a:p>
          <a:p>
            <a:r>
              <a:rPr lang="en-US" sz="4200" b="1" dirty="0">
                <a:highlight>
                  <a:srgbClr val="FFFF00"/>
                </a:highlight>
              </a:rPr>
              <a:t>Actual parameter is passed by value</a:t>
            </a:r>
            <a:endParaRPr lang="en-US" sz="4200" dirty="0">
              <a:highlight>
                <a:srgbClr val="FFFF00"/>
              </a:highlight>
            </a:endParaRPr>
          </a:p>
          <a:p>
            <a:endParaRPr lang="en-US" sz="4200" dirty="0"/>
          </a:p>
          <a:p>
            <a:endParaRPr lang="en-US" sz="3600" dirty="0"/>
          </a:p>
          <a:p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5272529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 &amp; OUT Mode Example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03ABB-DD05-411F-85E0-4D1FB865E9CD}" type="slidenum">
              <a:rPr lang="en-US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419600"/>
          </a:xfrm>
        </p:spPr>
        <p:txBody>
          <a:bodyPr>
            <a:normAutofit fontScale="32500" lnSpcReduction="20000"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dirty="0"/>
          </a:p>
          <a:p>
            <a:pPr>
              <a:buNone/>
            </a:pPr>
            <a:r>
              <a:rPr lang="en-US" sz="4900" dirty="0"/>
              <a:t> This program finds the minimum of two values. Here, the procedure takes two numbers using the IN mode and returns their minimum using the OUT parameters.</a:t>
            </a:r>
          </a:p>
          <a:p>
            <a:pPr>
              <a:buNone/>
            </a:pPr>
            <a:r>
              <a:rPr lang="en-US" sz="3600" b="1" dirty="0"/>
              <a:t>DECLARE </a:t>
            </a:r>
          </a:p>
          <a:p>
            <a:pPr>
              <a:buNone/>
            </a:pPr>
            <a:r>
              <a:rPr lang="en-US" sz="3600" b="1" dirty="0"/>
              <a:t>   a number; </a:t>
            </a:r>
          </a:p>
          <a:p>
            <a:pPr>
              <a:buNone/>
            </a:pPr>
            <a:r>
              <a:rPr lang="en-US" sz="3600" b="1" dirty="0"/>
              <a:t>   b number; </a:t>
            </a:r>
          </a:p>
          <a:p>
            <a:pPr>
              <a:buNone/>
            </a:pPr>
            <a:r>
              <a:rPr lang="en-US" sz="3600" b="1" dirty="0"/>
              <a:t>   c number;</a:t>
            </a:r>
          </a:p>
          <a:p>
            <a:pPr>
              <a:buNone/>
            </a:pPr>
            <a:r>
              <a:rPr lang="en-US" sz="3600" b="1" dirty="0"/>
              <a:t>PROCEDURE </a:t>
            </a:r>
            <a:r>
              <a:rPr lang="en-US" sz="3600" b="1" dirty="0" err="1"/>
              <a:t>findMin</a:t>
            </a:r>
            <a:r>
              <a:rPr lang="en-US" sz="3600" b="1" dirty="0"/>
              <a:t>(x IN number, y IN number, z OUT number) IS </a:t>
            </a:r>
          </a:p>
          <a:p>
            <a:pPr>
              <a:buNone/>
            </a:pPr>
            <a:r>
              <a:rPr lang="en-US" sz="3600" b="1" dirty="0"/>
              <a:t>BEGIN </a:t>
            </a:r>
          </a:p>
          <a:p>
            <a:pPr>
              <a:buNone/>
            </a:pPr>
            <a:r>
              <a:rPr lang="en-US" sz="3600" b="1" dirty="0"/>
              <a:t>   IF x &lt; y THEN </a:t>
            </a:r>
          </a:p>
          <a:p>
            <a:pPr>
              <a:buNone/>
            </a:pPr>
            <a:r>
              <a:rPr lang="en-US" sz="3600" b="1" dirty="0"/>
              <a:t>      z:= x; </a:t>
            </a:r>
          </a:p>
          <a:p>
            <a:pPr>
              <a:buNone/>
            </a:pPr>
            <a:r>
              <a:rPr lang="en-US" sz="3600" b="1" dirty="0"/>
              <a:t>   ELSE </a:t>
            </a:r>
          </a:p>
          <a:p>
            <a:pPr>
              <a:buNone/>
            </a:pPr>
            <a:r>
              <a:rPr lang="en-US" sz="3600" b="1" dirty="0"/>
              <a:t>      z:= y; </a:t>
            </a:r>
          </a:p>
          <a:p>
            <a:pPr>
              <a:buNone/>
            </a:pPr>
            <a:r>
              <a:rPr lang="en-US" sz="3600" b="1" dirty="0"/>
              <a:t>   END IF; </a:t>
            </a:r>
          </a:p>
          <a:p>
            <a:pPr>
              <a:buNone/>
            </a:pPr>
            <a:r>
              <a:rPr lang="en-US" sz="3600" b="1" dirty="0"/>
              <a:t>END;   </a:t>
            </a:r>
          </a:p>
          <a:p>
            <a:pPr>
              <a:buNone/>
            </a:pPr>
            <a:r>
              <a:rPr lang="en-US" sz="3600" b="1" dirty="0"/>
              <a:t>BEGIN </a:t>
            </a:r>
          </a:p>
          <a:p>
            <a:pPr>
              <a:buNone/>
            </a:pPr>
            <a:r>
              <a:rPr lang="en-US" sz="3600" b="1" dirty="0"/>
              <a:t>   a:= 23; </a:t>
            </a:r>
          </a:p>
          <a:p>
            <a:pPr>
              <a:buNone/>
            </a:pPr>
            <a:r>
              <a:rPr lang="en-US" sz="3600" b="1" dirty="0"/>
              <a:t>   b:= 45; </a:t>
            </a:r>
          </a:p>
          <a:p>
            <a:pPr>
              <a:buNone/>
            </a:pPr>
            <a:r>
              <a:rPr lang="en-US" sz="3600" b="1" dirty="0"/>
              <a:t>   </a:t>
            </a:r>
            <a:r>
              <a:rPr lang="en-US" sz="3600" b="1" dirty="0" err="1"/>
              <a:t>findMin</a:t>
            </a:r>
            <a:r>
              <a:rPr lang="en-US" sz="3600" b="1" dirty="0"/>
              <a:t>(a, b, c); </a:t>
            </a:r>
          </a:p>
          <a:p>
            <a:pPr>
              <a:buNone/>
            </a:pPr>
            <a:r>
              <a:rPr lang="en-US" sz="3600" b="1" dirty="0"/>
              <a:t>   </a:t>
            </a:r>
            <a:r>
              <a:rPr lang="en-US" sz="3600" b="1" dirty="0" err="1"/>
              <a:t>dbms_output.put_line</a:t>
            </a:r>
            <a:r>
              <a:rPr lang="en-US" sz="3600" b="1" dirty="0"/>
              <a:t>(' Minimum of (23, 45) : ' || c); </a:t>
            </a:r>
          </a:p>
          <a:p>
            <a:pPr>
              <a:buNone/>
            </a:pPr>
            <a:r>
              <a:rPr lang="en-US" sz="3600" b="1" dirty="0"/>
              <a:t>END; </a:t>
            </a:r>
          </a:p>
          <a:p>
            <a:pPr>
              <a:buNone/>
            </a:pPr>
            <a:r>
              <a:rPr lang="en-US" sz="3600" b="1" dirty="0"/>
              <a:t>/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endParaRPr lang="en-US" sz="3600" b="1" dirty="0"/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0" y="4953000"/>
            <a:ext cx="2895600" cy="1338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Output:</a:t>
            </a:r>
          </a:p>
          <a:p>
            <a:r>
              <a:rPr lang="en-US" sz="1600" dirty="0">
                <a:solidFill>
                  <a:schemeClr val="tx1"/>
                </a:solidFill>
              </a:rPr>
              <a:t>Minimum of (23, 45) : 23</a:t>
            </a:r>
          </a:p>
        </p:txBody>
      </p:sp>
    </p:spTree>
    <p:extLst>
      <p:ext uri="{BB962C8B-B14F-4D97-AF65-F5344CB8AC3E}">
        <p14:creationId xmlns:p14="http://schemas.microsoft.com/office/powerpoint/2010/main" val="1111531168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 &amp; OUT Mode Example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03ABB-DD05-411F-85E0-4D1FB865E9CD}" type="slidenum">
              <a:rPr lang="en-US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419600"/>
          </a:xfrm>
        </p:spPr>
        <p:txBody>
          <a:bodyPr>
            <a:normAutofit fontScale="70000" lnSpcReduction="20000"/>
          </a:bodyPr>
          <a:lstStyle/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dirty="0"/>
              <a:t>This procedure computes the square of value of a passed value. This example shows how we can use the same parameter to accept a value and then return another result.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b="1" dirty="0"/>
              <a:t>DECLARE 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b="1" dirty="0"/>
              <a:t>   a number; 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b="1" dirty="0"/>
              <a:t>PROCEDURE </a:t>
            </a:r>
            <a:r>
              <a:rPr lang="en-US" b="1" dirty="0" err="1"/>
              <a:t>squareNum</a:t>
            </a:r>
            <a:r>
              <a:rPr lang="en-US" b="1" dirty="0"/>
              <a:t>(x IN OUT number) IS 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b="1" dirty="0"/>
              <a:t>BEGIN 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b="1" dirty="0"/>
              <a:t>  x := x * x; 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b="1" dirty="0"/>
              <a:t>END;  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b="1" dirty="0"/>
              <a:t>BEGIN 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b="1" dirty="0"/>
              <a:t>   a:= 23; 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b="1" dirty="0"/>
              <a:t>   </a:t>
            </a:r>
            <a:r>
              <a:rPr lang="en-US" b="1" dirty="0" err="1"/>
              <a:t>squareNum</a:t>
            </a:r>
            <a:r>
              <a:rPr lang="en-US" b="1" dirty="0"/>
              <a:t>(a); 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b="1" dirty="0"/>
              <a:t>   </a:t>
            </a:r>
            <a:r>
              <a:rPr lang="en-US" b="1" dirty="0" err="1"/>
              <a:t>dbms_output.put_line</a:t>
            </a:r>
            <a:r>
              <a:rPr lang="en-US" b="1" dirty="0"/>
              <a:t>(' Square of (23): ' || a); 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b="1" dirty="0"/>
              <a:t>END; 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b="1" dirty="0"/>
              <a:t>/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5519670"/>
            <a:ext cx="2590800" cy="1338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Output:</a:t>
            </a:r>
          </a:p>
          <a:p>
            <a:r>
              <a:rPr lang="en-US" sz="1600" dirty="0">
                <a:solidFill>
                  <a:schemeClr val="tx1"/>
                </a:solidFill>
              </a:rPr>
              <a:t>Square of (23): 529</a:t>
            </a:r>
          </a:p>
        </p:txBody>
      </p:sp>
    </p:spTree>
    <p:extLst>
      <p:ext uri="{BB962C8B-B14F-4D97-AF65-F5344CB8AC3E}">
        <p14:creationId xmlns:p14="http://schemas.microsoft.com/office/powerpoint/2010/main" val="2231355537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Methods for Passing Parameters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03ABB-DD05-411F-85E0-4D1FB865E9CD}" type="slidenum">
              <a:rPr lang="en-US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419600"/>
          </a:xfrm>
        </p:spPr>
        <p:txBody>
          <a:bodyPr>
            <a:normAutofit/>
          </a:bodyPr>
          <a:lstStyle/>
          <a:p>
            <a:r>
              <a:rPr lang="en-US" dirty="0"/>
              <a:t>Actual parameters can be passed in three ways −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Positional notation-&gt;</a:t>
            </a:r>
            <a:r>
              <a:rPr lang="en-US" dirty="0" err="1">
                <a:solidFill>
                  <a:schemeClr val="tx1"/>
                </a:solidFill>
              </a:rPr>
              <a:t>findMin</a:t>
            </a:r>
            <a:r>
              <a:rPr lang="en-US" dirty="0">
                <a:solidFill>
                  <a:schemeClr val="tx1"/>
                </a:solidFill>
              </a:rPr>
              <a:t>(a, b, c, d);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Named notation-&gt;</a:t>
            </a:r>
            <a:r>
              <a:rPr lang="en-US" dirty="0" err="1">
                <a:solidFill>
                  <a:schemeClr val="tx1"/>
                </a:solidFill>
              </a:rPr>
              <a:t>findMin</a:t>
            </a:r>
            <a:r>
              <a:rPr lang="en-US" dirty="0">
                <a:solidFill>
                  <a:schemeClr val="tx1"/>
                </a:solidFill>
              </a:rPr>
              <a:t>(x =&gt; a, y =&gt; b, z =&gt; c, m =&gt; d);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Mixed notation-&gt;the positional notation should precede the named notation.</a:t>
            </a:r>
          </a:p>
          <a:p>
            <a:pPr lvl="1">
              <a:buNone/>
            </a:pPr>
            <a:r>
              <a:rPr lang="en-US" dirty="0">
                <a:solidFill>
                  <a:schemeClr val="tx1"/>
                </a:solidFill>
              </a:rPr>
              <a:t>	Legal-&gt;</a:t>
            </a:r>
            <a:r>
              <a:rPr lang="en-US" dirty="0" err="1">
                <a:solidFill>
                  <a:schemeClr val="tx1"/>
                </a:solidFill>
              </a:rPr>
              <a:t>findMin</a:t>
            </a:r>
            <a:r>
              <a:rPr lang="en-US" dirty="0">
                <a:solidFill>
                  <a:schemeClr val="tx1"/>
                </a:solidFill>
              </a:rPr>
              <a:t>(a, b, c, m =&gt; d);</a:t>
            </a:r>
          </a:p>
          <a:p>
            <a:pPr lvl="1">
              <a:buNone/>
            </a:pPr>
            <a:r>
              <a:rPr lang="en-US" dirty="0">
                <a:solidFill>
                  <a:schemeClr val="tx1"/>
                </a:solidFill>
              </a:rPr>
              <a:t>	Illegal-&gt;</a:t>
            </a:r>
            <a:r>
              <a:rPr lang="en-US" dirty="0" err="1">
                <a:solidFill>
                  <a:schemeClr val="tx1"/>
                </a:solidFill>
              </a:rPr>
              <a:t>findMin</a:t>
            </a:r>
            <a:r>
              <a:rPr lang="en-US" dirty="0">
                <a:solidFill>
                  <a:schemeClr val="tx1"/>
                </a:solidFill>
              </a:rPr>
              <a:t>(x =&gt; a, b, c, d); </a:t>
            </a:r>
          </a:p>
        </p:txBody>
      </p:sp>
    </p:spTree>
    <p:extLst>
      <p:ext uri="{BB962C8B-B14F-4D97-AF65-F5344CB8AC3E}">
        <p14:creationId xmlns:p14="http://schemas.microsoft.com/office/powerpoint/2010/main" val="642669983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4FA578-6CA6-42C0-840A-1CC104BF0A30}" type="slidenum">
              <a:rPr lang="en-US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4572000" y="1600200"/>
            <a:ext cx="3581400" cy="4525963"/>
          </a:xfrm>
          <a:prstGeom prst="rect">
            <a:avLst/>
          </a:prstGeom>
        </p:spPr>
        <p:txBody>
          <a:bodyPr/>
          <a:lstStyle/>
          <a:p>
            <a:pPr marL="342900" indent="-342900" algn="l" eaLnBrk="1" fontAlgn="auto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 </a:t>
            </a:r>
          </a:p>
          <a:p>
            <a:pPr marL="342900" indent="-342900">
              <a:spcBef>
                <a:spcPct val="20000"/>
              </a:spcBef>
              <a:defRPr/>
            </a:pPr>
            <a:endParaRPr lang="en-US" sz="2000" b="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01625" y="1527175"/>
            <a:ext cx="8504238" cy="4572000"/>
          </a:xfrm>
        </p:spPr>
        <p:txBody>
          <a:bodyPr>
            <a:normAutofit/>
          </a:bodyPr>
          <a:lstStyle/>
          <a:p>
            <a:pPr marL="0" indent="0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3600" dirty="0">
                <a:solidFill>
                  <a:prstClr val="black">
                    <a:lumMod val="75000"/>
                    <a:lumOff val="25000"/>
                  </a:prstClr>
                </a:solidFill>
                <a:ea typeface="+mj-ea"/>
                <a:cs typeface="+mj-cs"/>
              </a:rPr>
              <a:t>			</a:t>
            </a:r>
          </a:p>
          <a:p>
            <a:pPr marL="0" indent="0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3600" dirty="0">
                <a:solidFill>
                  <a:prstClr val="black">
                    <a:lumMod val="75000"/>
                    <a:lumOff val="25000"/>
                  </a:prstClr>
                </a:solidFill>
                <a:ea typeface="+mj-ea"/>
                <a:cs typeface="+mj-cs"/>
              </a:rPr>
              <a:t>				</a:t>
            </a:r>
          </a:p>
          <a:p>
            <a:pPr marL="0" indent="0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3600" dirty="0">
                <a:solidFill>
                  <a:prstClr val="black">
                    <a:lumMod val="75000"/>
                    <a:lumOff val="25000"/>
                  </a:prstClr>
                </a:solidFill>
                <a:ea typeface="+mj-ea"/>
                <a:cs typeface="+mj-cs"/>
              </a:rPr>
              <a:t>			THANK YOU </a:t>
            </a:r>
            <a:br>
              <a:rPr lang="en-US" sz="3600" dirty="0">
                <a:solidFill>
                  <a:prstClr val="black">
                    <a:lumMod val="75000"/>
                    <a:lumOff val="25000"/>
                  </a:prstClr>
                </a:solidFill>
                <a:ea typeface="+mj-ea"/>
                <a:cs typeface="+mj-cs"/>
              </a:rPr>
            </a:br>
            <a:endParaRPr lang="en-US" dirty="0"/>
          </a:p>
        </p:txBody>
      </p:sp>
    </p:spTree>
  </p:cSld>
  <p:clrMapOvr>
    <a:masterClrMapping/>
  </p:clrMapOvr>
  <p:transition spd="slow"/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4339</TotalTime>
  <Words>1133</Words>
  <Application>Microsoft Office PowerPoint</Application>
  <PresentationFormat>On-screen Show (4:3)</PresentationFormat>
  <Paragraphs>172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Narrow</vt:lpstr>
      <vt:lpstr>Georgia</vt:lpstr>
      <vt:lpstr>Times New Roman</vt:lpstr>
      <vt:lpstr>Wingdings</vt:lpstr>
      <vt:lpstr>Wingdings 2</vt:lpstr>
      <vt:lpstr>Civic</vt:lpstr>
      <vt:lpstr>Advance Database Management System Lecture 05: PL/SQL Subprogram Part 01: Procedure </vt:lpstr>
      <vt:lpstr>Learning Objectives</vt:lpstr>
      <vt:lpstr>Subprograms and its Types</vt:lpstr>
      <vt:lpstr>Parts of a PL/SQL Subprograms</vt:lpstr>
      <vt:lpstr>Creating a Procedure</vt:lpstr>
      <vt:lpstr>Procedure Example</vt:lpstr>
      <vt:lpstr>Executing and Deleting a Standalone procedure</vt:lpstr>
      <vt:lpstr>Parameter Modes in PL/SQL Subprograms</vt:lpstr>
      <vt:lpstr>Parameter Modes in PL/SQL Subprograms</vt:lpstr>
      <vt:lpstr>Parameter Modes in PL/SQL Subprograms</vt:lpstr>
      <vt:lpstr>IN &amp; OUT Mode Example 1</vt:lpstr>
      <vt:lpstr>IN &amp; OUT Mode Example 2</vt:lpstr>
      <vt:lpstr>Methods for Passing Parameters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&lt;Lesson Title&gt;</dc:title>
  <dc:subject>Advance Database Management System</dc:subject>
  <dc:creator>Juena Ahmed Noshin</dc:creator>
  <cp:lastModifiedBy>shadman sakib</cp:lastModifiedBy>
  <cp:revision>392</cp:revision>
  <cp:lastPrinted>1998-06-30T18:28:36Z</cp:lastPrinted>
  <dcterms:created xsi:type="dcterms:W3CDTF">1995-06-17T23:31:02Z</dcterms:created>
  <dcterms:modified xsi:type="dcterms:W3CDTF">2025-09-13T06:45:33Z</dcterms:modified>
</cp:coreProperties>
</file>